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66960" y="640080"/>
            <a:ext cx="320040" cy="5394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52760" y="640080"/>
            <a:ext cx="320040" cy="5394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338560" y="640080"/>
            <a:ext cx="320040" cy="5394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Aptos"/>
              </a:defRPr>
            </a:pPr>
            <a:r>
              <a:rPr lang="en-US" sz="2000" dirty="0"/>
              <a:t>AGENTIC AI FACTORY | AIONOS</a:t>
            </a:r>
            <a:endParaRPr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31519" y="1980176"/>
            <a:ext cx="137682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rPr dirty="0"/>
              <a:t>Internal </a:t>
            </a:r>
            <a:r>
              <a:rPr lang="en-US" dirty="0"/>
              <a:t>Service</a:t>
            </a:r>
            <a:r>
              <a:rPr dirty="0"/>
              <a:t>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54680"/>
            <a:ext cx="7955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Aptos"/>
              </a:defRPr>
            </a:pPr>
            <a:r>
              <a:rPr sz="2400" dirty="0"/>
              <a:t>AI-powered first-level employee IT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2340" y="4315968"/>
            <a:ext cx="3520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en-US" sz="2000" dirty="0"/>
              <a:t>BY:  </a:t>
            </a:r>
            <a:r>
              <a:rPr sz="2000" dirty="0"/>
              <a:t>23CSU011</a:t>
            </a:r>
            <a:endParaRPr lang="en-US" sz="2000" dirty="0"/>
          </a:p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en-US" sz="2000" dirty="0"/>
              <a:t>     </a:t>
            </a:r>
            <a:r>
              <a:rPr sz="2000" dirty="0"/>
              <a:t>   Aditi Goyal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89020" y="31613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F34"/>
                </a:solidFill>
                <a:latin typeface="Aptos"/>
              </a:defRPr>
            </a:pPr>
            <a:r>
              <a:rPr sz="3200" dirty="0"/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5780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3120" y="1611570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ptos"/>
              </a:defRPr>
            </a:pPr>
            <a:r>
              <a:rPr sz="2000" dirty="0"/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52628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Employees often face common IT issues such as email problems, VPN connectivity, hardware failures, and account-related.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Traditional support requires employees to wait for IT teams even for simple problems, while risky or unclear issues require proper escalation.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rPr dirty="0"/>
              <a:t>• Security-sensitive requests need immediate escalation.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57800" cy="4251960"/>
          </a:xfrm>
          <a:prstGeom prst="round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1613747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Aptos"/>
              </a:defRPr>
            </a:pPr>
            <a:r>
              <a:rPr sz="2000" dirty="0"/>
              <a:t>THE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52628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Understand an employee's IT issue• Find the relevant policy or resolution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• Ask sensible follow-up questions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• Resolve simple requests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• Escalate risky or unclear requests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• Create a structured ticket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• Show the source used for its answer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• Maintain an audit trail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4540" y="300231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F34"/>
                </a:solidFill>
                <a:latin typeface="Aptos"/>
              </a:defRPr>
            </a:pPr>
            <a:r>
              <a:rPr sz="3200" dirty="0"/>
              <a:t>Assignment Requirements →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166360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83228" y="1554479"/>
            <a:ext cx="3069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ptos"/>
              </a:defRPr>
            </a:pPr>
            <a:r>
              <a:rPr lang="en-US" dirty="0"/>
              <a:t>Understand issue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rPr dirty="0"/>
              <a:t>Natural-language input + Gemini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166360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4509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ptos"/>
              </a:defRPr>
            </a:pPr>
            <a:r>
              <a:rPr dirty="0"/>
              <a:t>Find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Local topic-based knowledge retrieval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5166360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25980" y="2607599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ptos"/>
              </a:defRPr>
            </a:pPr>
            <a:r>
              <a:rPr dirty="0"/>
              <a:t>Follow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AI response + missing-information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468880"/>
            <a:ext cx="5166360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2672881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ptos"/>
              </a:defRPr>
            </a:pPr>
            <a:r>
              <a:rPr dirty="0"/>
              <a:t>Resolve simple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26080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KB-backed troubleshooting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11880"/>
            <a:ext cx="5166360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44337" y="3750599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ptos"/>
              </a:defRPr>
            </a:pPr>
            <a:r>
              <a:rPr dirty="0"/>
              <a:t>Escalate risky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Deterministic security risk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11880"/>
            <a:ext cx="5166360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3707021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ptos"/>
              </a:defRPr>
            </a:pPr>
            <a:r>
              <a:rPr dirty="0"/>
              <a:t>Create ticket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069080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Structured JSON ticket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754880"/>
            <a:ext cx="5166360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66109" y="4861595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ptos"/>
              </a:defRPr>
            </a:pPr>
            <a:r>
              <a:rPr dirty="0"/>
              <a:t>Show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Source filename displayed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754880"/>
            <a:ext cx="5166360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0" y="476837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ptos"/>
              </a:defRPr>
            </a:pPr>
            <a:r>
              <a:rPr dirty="0"/>
              <a:t>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212080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JSON event logging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4160" y="283684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F34"/>
                </a:solidFill>
                <a:latin typeface="Aptos"/>
              </a:defRPr>
            </a:pPr>
            <a:r>
              <a:rPr sz="3200" dirty="0"/>
              <a:t>Inputs, Sources &amp;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4297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ptos"/>
              </a:defRPr>
            </a:pPr>
            <a:r>
              <a:rPr lang="en-US" sz="2000" dirty="0"/>
              <a:t>👤 Employee Input</a:t>
            </a:r>
            <a:endParaRPr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8036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lang="en-US" dirty="0"/>
              <a:t>•  Issue description 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lang="en-US" dirty="0"/>
              <a:t>•  Device / application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lang="en-US" dirty="0"/>
              <a:t>•  Error message</a:t>
            </a:r>
            <a:endParaRPr dirty="0"/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dirty="0"/>
              <a:t>•</a:t>
            </a:r>
            <a:r>
              <a:rPr lang="en-US" dirty="0"/>
              <a:t> Relevant context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462272" y="1417320"/>
            <a:ext cx="3520440" cy="4297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736592" y="1737360"/>
            <a:ext cx="31821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Aptos"/>
              </a:defRPr>
            </a:pPr>
            <a:r>
              <a:rPr lang="en-US" sz="2000" dirty="0"/>
              <a:t>📚 Knowledge Sources</a:t>
            </a:r>
            <a:endParaRPr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4736592" y="2286000"/>
            <a:ext cx="28803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lang="en-US" dirty="0"/>
              <a:t>• Email Troubleshooting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lang="en-US" dirty="0"/>
              <a:t>• VPN 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lang="en-US" dirty="0"/>
              <a:t>•Troubleshooting Password &amp; Account Policy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lang="en-US" dirty="0"/>
              <a:t>• Hardware Policy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lang="en-US" dirty="0"/>
              <a:t>• Security Incident Policy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284463" y="1417320"/>
            <a:ext cx="3520440" cy="4297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58784" y="1737360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Aptos"/>
              </a:defRPr>
            </a:pPr>
            <a:r>
              <a:rPr lang="en-US" sz="2000" dirty="0"/>
              <a:t>⚙️ </a:t>
            </a:r>
            <a:r>
              <a:rPr sz="2000" dirty="0"/>
              <a:t>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2286000"/>
            <a:ext cx="288036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lang="en-US" dirty="0"/>
              <a:t>• Knowledge base stored locally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lang="en-US" dirty="0"/>
              <a:t>• Ticketing is simulated using JSON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lang="en-US" dirty="0"/>
              <a:t>• Security issues go to IT Security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lang="en-US" dirty="0"/>
              <a:t>• No real employee credentials are processed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61360" y="393414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F34"/>
                </a:solidFill>
                <a:latin typeface="Aptos"/>
              </a:defRPr>
            </a:pPr>
            <a:r>
              <a:rPr sz="3200" dirty="0"/>
              <a:t>Complete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6791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Aptos"/>
              </a:defRPr>
            </a:pPr>
            <a:r>
              <a:t>Employee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44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Streamlit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5146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F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368" y="26791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F34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3044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Python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41732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84648" y="15819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Aptos"/>
              </a:defRPr>
            </a:pPr>
            <a:r>
              <a:t>Risk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19476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Security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361188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84648" y="3776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Aptos"/>
              </a:defRPr>
            </a:pPr>
            <a:r>
              <a:t>Knowledge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42336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rPr dirty="0"/>
              <a:t>TXT policies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61188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62088" y="3776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Aptos"/>
              </a:defRPr>
            </a:pPr>
            <a:r>
              <a:t>Gemini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41422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Grounded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8288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39528" y="19933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Aptos"/>
              </a:defRPr>
            </a:pPr>
            <a:r>
              <a:t>Ticket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528" y="23591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JSON tickets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4114800"/>
            <a:ext cx="1691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39528" y="42793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Aptos"/>
              </a:defRPr>
            </a:pPr>
            <a:r>
              <a:t>Audit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46451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JSON events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31720" y="3035808"/>
            <a:ext cx="5029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26280" y="1938528"/>
            <a:ext cx="548640" cy="109728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26280" y="3035808"/>
            <a:ext cx="548640" cy="1097279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133087"/>
            <a:ext cx="6858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144000" y="2350008"/>
            <a:ext cx="685800" cy="1783079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0" y="4133087"/>
            <a:ext cx="685800" cy="50292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257800" y="59893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F34"/>
                </a:solidFill>
                <a:latin typeface="Aptos"/>
              </a:defRPr>
            </a:pPr>
            <a:r>
              <a:t>AI handles language; deterministic rules control security-sensitive routing.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71703" y="393527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F34"/>
                </a:solidFill>
                <a:latin typeface="Aptos"/>
              </a:defRPr>
            </a:pPr>
            <a:r>
              <a:rPr sz="3200" dirty="0"/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914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35607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399032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Aptos"/>
              </a:defRPr>
            </a:pPr>
            <a:r>
              <a:t>Employee submits issue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" y="1828800"/>
            <a:ext cx="0" cy="22860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075688"/>
            <a:ext cx="91440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854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14884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Aptos"/>
              </a:defRPr>
            </a:pPr>
            <a:r>
              <a:t>Risk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1600" y="2578608"/>
            <a:ext cx="0" cy="22860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2825496"/>
            <a:ext cx="914400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9352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89864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Aptos"/>
              </a:defRPr>
            </a:pPr>
            <a:r>
              <a:t>Retrieve relevant policy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3328415"/>
            <a:ext cx="0" cy="22860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3575304"/>
            <a:ext cx="914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685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648456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Aptos"/>
              </a:defRPr>
            </a:pPr>
            <a:r>
              <a:t>Gemini generates grounded response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71600" y="4078224"/>
            <a:ext cx="0" cy="22860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4325112"/>
            <a:ext cx="9144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398264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Aptos"/>
              </a:defRPr>
            </a:pPr>
            <a:r>
              <a:t>Resolve / follow up / escalate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71600" y="4828031"/>
            <a:ext cx="0" cy="22860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" y="5074920"/>
            <a:ext cx="91440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1846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148072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Aptos"/>
              </a:defRPr>
            </a:pPr>
            <a:r>
              <a:t>Create ticket + audit trail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7FD89A-0EC9-6DFE-684A-AB8BE3E0060E}"/>
              </a:ext>
            </a:extLst>
          </p:cNvPr>
          <p:cNvSpPr txBox="1"/>
          <p:nvPr/>
        </p:nvSpPr>
        <p:spPr>
          <a:xfrm>
            <a:off x="5852160" y="2405525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92531" y="448495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F34"/>
                </a:solidFill>
                <a:latin typeface="Aptos"/>
              </a:defRPr>
            </a:pPr>
            <a:r>
              <a:rPr sz="3200" dirty="0"/>
              <a:t>AI Tools &amp; How They Are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44200" cy="84124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1490472"/>
            <a:ext cx="12344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463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34"/>
                </a:solidFill>
                <a:latin typeface="Aptos"/>
              </a:defRPr>
            </a:pPr>
            <a:r>
              <a:t>Google Gemini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63039"/>
            <a:ext cx="6355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Natural-language understanding and response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04872"/>
            <a:ext cx="10744200" cy="84124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0120" y="2569464"/>
            <a:ext cx="123444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70662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542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34"/>
                </a:solidFill>
                <a:latin typeface="Aptos"/>
              </a:defRPr>
            </a:pPr>
            <a:r>
              <a:t>Python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42032"/>
            <a:ext cx="6355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Risk detection, routing and safety-critical escalation.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83863"/>
            <a:ext cx="10744200" cy="84124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0120" y="3648456"/>
            <a:ext cx="1234440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785615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62102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34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621023"/>
            <a:ext cx="6355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Interactive employee UI and result display.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62856"/>
            <a:ext cx="10744200" cy="84124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0120" y="4727448"/>
            <a:ext cx="123444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86460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7000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34"/>
                </a:solidFill>
                <a:latin typeface="Aptos"/>
              </a:defRPr>
            </a:pPr>
            <a:r>
              <a:t>Local TXT KB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00016"/>
            <a:ext cx="6355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Approved support policies and troubleshooting guidance.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92531" y="305765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F34"/>
                </a:solidFill>
                <a:latin typeface="Aptos"/>
              </a:defRPr>
            </a:pPr>
            <a:r>
              <a:rPr sz="3200" dirty="0"/>
              <a:t>Knowledge Base &amp; Grounded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3968" y="1349740"/>
            <a:ext cx="4047308" cy="130970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60911" y="1438273"/>
            <a:ext cx="3063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F34"/>
                </a:solidFill>
                <a:latin typeface="Aptos"/>
              </a:defRPr>
            </a:pPr>
            <a:r>
              <a:rPr lang="en-US" sz="2000" dirty="0"/>
              <a:t> Email</a:t>
            </a:r>
          </a:p>
          <a:p>
            <a:pPr algn="ctr">
              <a:defRPr sz="1400" b="1">
                <a:solidFill>
                  <a:srgbClr val="0F1F34"/>
                </a:solidFill>
                <a:latin typeface="Aptos"/>
              </a:defRPr>
            </a:pPr>
            <a:endParaRPr sz="2000" dirty="0"/>
          </a:p>
        </p:txBody>
      </p:sp>
      <p:sp>
        <p:nvSpPr>
          <p:cNvPr id="7" name="Rounded Rectangle 6"/>
          <p:cNvSpPr/>
          <p:nvPr/>
        </p:nvSpPr>
        <p:spPr>
          <a:xfrm>
            <a:off x="4363538" y="1335371"/>
            <a:ext cx="3988527" cy="141454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200650" y="1583648"/>
            <a:ext cx="3063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F34"/>
                </a:solidFill>
                <a:latin typeface="Aptos"/>
              </a:defRPr>
            </a:pPr>
            <a:r>
              <a:rPr sz="2000" dirty="0"/>
              <a:t>VPN Troubleshooti</a:t>
            </a:r>
            <a:r>
              <a:rPr lang="en-US" sz="2000" dirty="0"/>
              <a:t>ng</a:t>
            </a:r>
          </a:p>
          <a:p>
            <a:pPr algn="ctr">
              <a:defRPr sz="1400" b="1">
                <a:solidFill>
                  <a:srgbClr val="0F1F34"/>
                </a:solidFill>
                <a:latin typeface="Aptos"/>
              </a:defRPr>
            </a:pPr>
            <a:endParaRPr sz="2000" dirty="0"/>
          </a:p>
        </p:txBody>
      </p:sp>
      <p:sp>
        <p:nvSpPr>
          <p:cNvPr id="9" name="Rounded Rectangle 8"/>
          <p:cNvSpPr/>
          <p:nvPr/>
        </p:nvSpPr>
        <p:spPr>
          <a:xfrm>
            <a:off x="8396152" y="1350646"/>
            <a:ext cx="3611880" cy="143840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69086" y="1527048"/>
            <a:ext cx="3063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F34"/>
                </a:solidFill>
                <a:latin typeface="Aptos"/>
              </a:defRPr>
            </a:pPr>
            <a:r>
              <a:rPr sz="2000" dirty="0"/>
              <a:t>Password &amp; Account Polic</a:t>
            </a:r>
            <a:r>
              <a:rPr lang="en-US" sz="2000" dirty="0"/>
              <a:t>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7360" y="3138817"/>
            <a:ext cx="4134392" cy="1539113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36" y="3496667"/>
            <a:ext cx="3063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F34"/>
                </a:solidFill>
                <a:latin typeface="Aptos"/>
              </a:defRPr>
            </a:pPr>
            <a:r>
              <a:rPr sz="2000" dirty="0"/>
              <a:t>Hardware Support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4507" y="3206734"/>
            <a:ext cx="3964579" cy="134428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4732" y="5337206"/>
            <a:ext cx="10424160" cy="1051560"/>
          </a:xfrm>
          <a:prstGeom prst="round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8240" y="556529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Employee Issue → Topic Detection → Relevant Document → Response → Source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F4EFC-9DA6-B451-9F24-6DE1115C6D37}"/>
              </a:ext>
            </a:extLst>
          </p:cNvPr>
          <p:cNvSpPr txBox="1"/>
          <p:nvPr/>
        </p:nvSpPr>
        <p:spPr>
          <a:xfrm>
            <a:off x="1611085" y="1814744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IT-EMAIL-001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1027A1-D68B-9929-601C-0603688B269F}"/>
              </a:ext>
            </a:extLst>
          </p:cNvPr>
          <p:cNvSpPr txBox="1"/>
          <p:nvPr/>
        </p:nvSpPr>
        <p:spPr>
          <a:xfrm>
            <a:off x="6096000" y="1910016"/>
            <a:ext cx="2177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IT-VPN-001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67CF79-9C8B-E2C1-4A26-4858FFA64139}"/>
              </a:ext>
            </a:extLst>
          </p:cNvPr>
          <p:cNvSpPr txBox="1"/>
          <p:nvPr/>
        </p:nvSpPr>
        <p:spPr>
          <a:xfrm>
            <a:off x="9396548" y="2200413"/>
            <a:ext cx="2216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IT-AUTH-001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9A8842-231A-6E37-8644-EA60D09142AA}"/>
              </a:ext>
            </a:extLst>
          </p:cNvPr>
          <p:cNvSpPr txBox="1"/>
          <p:nvPr/>
        </p:nvSpPr>
        <p:spPr>
          <a:xfrm>
            <a:off x="5156019" y="3429000"/>
            <a:ext cx="2661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Security Incident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A5CDF7-2966-DCF7-D668-ED555EF756B7}"/>
              </a:ext>
            </a:extLst>
          </p:cNvPr>
          <p:cNvSpPr txBox="1"/>
          <p:nvPr/>
        </p:nvSpPr>
        <p:spPr>
          <a:xfrm>
            <a:off x="1603465" y="4059042"/>
            <a:ext cx="2220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IT-HW-001</a:t>
            </a:r>
          </a:p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7F7A9D-4D06-B8EA-5838-BBB1CB3CB672}"/>
              </a:ext>
            </a:extLst>
          </p:cNvPr>
          <p:cNvSpPr txBox="1"/>
          <p:nvPr/>
        </p:nvSpPr>
        <p:spPr>
          <a:xfrm>
            <a:off x="5663292" y="3961397"/>
            <a:ext cx="1647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IT-SEC-001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5595" y="283684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F34"/>
                </a:solidFill>
                <a:latin typeface="Aptos"/>
              </a:defRPr>
            </a:pPr>
            <a:r>
              <a:rPr sz="3200" dirty="0"/>
              <a:t>Risk, Escalation &amp; Ticketing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8077" y="1474958"/>
            <a:ext cx="3775845" cy="43891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2611" y="1467317"/>
            <a:ext cx="3875994" cy="4389120"/>
          </a:xfrm>
          <a:prstGeom prst="roundRect">
            <a:avLst/>
          </a:prstGeom>
          <a:solidFill>
            <a:srgbClr val="F0FDFA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E16A373C-A197-8A8B-D705-FC3B1C3081EA}"/>
              </a:ext>
            </a:extLst>
          </p:cNvPr>
          <p:cNvSpPr/>
          <p:nvPr/>
        </p:nvSpPr>
        <p:spPr>
          <a:xfrm>
            <a:off x="8113395" y="1467317"/>
            <a:ext cx="3875994" cy="4389120"/>
          </a:xfrm>
          <a:prstGeom prst="roundRect">
            <a:avLst/>
          </a:prstGeom>
          <a:solidFill>
            <a:srgbClr val="F0FDFA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8C5824-2F0B-3521-4746-825141A24646}"/>
              </a:ext>
            </a:extLst>
          </p:cNvPr>
          <p:cNvSpPr txBox="1"/>
          <p:nvPr/>
        </p:nvSpPr>
        <p:spPr>
          <a:xfrm>
            <a:off x="359230" y="1709057"/>
            <a:ext cx="3254828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RISK DETECTION</a:t>
            </a:r>
          </a:p>
          <a:p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Password sharing / shared credentials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Phishing or suspicious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Unauthorized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Lost or stolen device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Malware / ransomware suspicion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6E9BFA-B20C-E49B-45EC-4B2E92CD6D90}"/>
              </a:ext>
            </a:extLst>
          </p:cNvPr>
          <p:cNvSpPr txBox="1"/>
          <p:nvPr/>
        </p:nvSpPr>
        <p:spPr>
          <a:xfrm>
            <a:off x="4807980" y="1709057"/>
            <a:ext cx="314597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ESCALATION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HIGH Priority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Assigned Team: IT 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Normal troubleshooting stopped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92AE9D-FEC8-C3CD-4AF3-9DCA61B056D7}"/>
              </a:ext>
            </a:extLst>
          </p:cNvPr>
          <p:cNvSpPr txBox="1"/>
          <p:nvPr/>
        </p:nvSpPr>
        <p:spPr>
          <a:xfrm>
            <a:off x="8533923" y="1879945"/>
            <a:ext cx="3034937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STRUCTURED TICKET</a:t>
            </a:r>
          </a:p>
          <a:p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Ticket ID + Timestamp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Category + Priority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Status + Assigned Team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Issue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Knowledge Source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Audit Events for Traceability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0" y="449509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Demo Scenarios &amp;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5669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301343" cy="2181062"/>
          </a:xfrm>
          <a:prstGeom prst="roundRect">
            <a:avLst/>
          </a:prstGeom>
          <a:solidFill>
            <a:srgbClr val="1E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496312"/>
            <a:ext cx="1417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2423160" y="2468879"/>
            <a:ext cx="2560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029200" y="2468879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ptos"/>
              </a:defRPr>
            </a:pP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60120" y="3456432"/>
            <a:ext cx="1417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505891" y="3640032"/>
            <a:ext cx="2560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029200" y="3429000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ptos"/>
              </a:defRPr>
            </a:pP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960120" y="4416552"/>
            <a:ext cx="1417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Aptos"/>
              </a:defRPr>
            </a:pP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2423160" y="4389120"/>
            <a:ext cx="2560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28231E01-26FF-83C4-980E-EAEA49F67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421566"/>
            <a:ext cx="4299858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NORMAL ISSUE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Employee: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“My Outlook is not syncing new emails.”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Result: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Knowledge Base retrieved → Troubleshooting steps → Source displayed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919DB085-C67E-D5C7-9435-DFC12C0E0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65B27CB6-DA36-5CDD-14CA-D405D1D40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83BA5554-86B6-6BD7-438B-AD9260A8628D}"/>
              </a:ext>
            </a:extLst>
          </p:cNvPr>
          <p:cNvSpPr/>
          <p:nvPr/>
        </p:nvSpPr>
        <p:spPr>
          <a:xfrm>
            <a:off x="654232" y="4520657"/>
            <a:ext cx="5301343" cy="2181062"/>
          </a:xfrm>
          <a:prstGeom prst="roundRect">
            <a:avLst/>
          </a:prstGeom>
          <a:solidFill>
            <a:srgbClr val="1E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3">
            <a:extLst>
              <a:ext uri="{FF2B5EF4-FFF2-40B4-BE49-F238E27FC236}">
                <a16:creationId xmlns:a16="http://schemas.microsoft.com/office/drawing/2014/main" id="{2373900D-6836-C767-F1A1-5DAABA3AD97C}"/>
              </a:ext>
            </a:extLst>
          </p:cNvPr>
          <p:cNvSpPr/>
          <p:nvPr/>
        </p:nvSpPr>
        <p:spPr>
          <a:xfrm>
            <a:off x="6672943" y="2701727"/>
            <a:ext cx="5301343" cy="2181062"/>
          </a:xfrm>
          <a:prstGeom prst="roundRect">
            <a:avLst/>
          </a:prstGeom>
          <a:solidFill>
            <a:srgbClr val="1E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A5E466-B200-28C8-B208-073AFA903CC5}"/>
              </a:ext>
            </a:extLst>
          </p:cNvPr>
          <p:cNvSpPr txBox="1"/>
          <p:nvPr/>
        </p:nvSpPr>
        <p:spPr>
          <a:xfrm>
            <a:off x="7109460" y="2842883"/>
            <a:ext cx="459159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🔴</a:t>
            </a:r>
            <a:r>
              <a:rPr lang="en-US" sz="2000" b="1" dirty="0">
                <a:solidFill>
                  <a:schemeClr val="bg1"/>
                </a:solidFill>
              </a:rPr>
              <a:t> SECURITY ISSUE</a:t>
            </a:r>
          </a:p>
          <a:p>
            <a:r>
              <a:rPr lang="en-US" b="1" dirty="0">
                <a:solidFill>
                  <a:schemeClr val="bg1"/>
                </a:solidFill>
              </a:rPr>
              <a:t>Employee: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“I accidentally shared my company password.”</a:t>
            </a:r>
          </a:p>
          <a:p>
            <a:r>
              <a:rPr lang="en-US" b="1" dirty="0">
                <a:solidFill>
                  <a:schemeClr val="bg1"/>
                </a:solidFill>
              </a:rPr>
              <a:t>Result: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Risk detected → HIGH Priority Ticket → IT Security Escalation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E89E52-D0AF-BBC2-B743-B2EC9E01AC2A}"/>
              </a:ext>
            </a:extLst>
          </p:cNvPr>
          <p:cNvSpPr txBox="1"/>
          <p:nvPr/>
        </p:nvSpPr>
        <p:spPr>
          <a:xfrm>
            <a:off x="1094014" y="4675206"/>
            <a:ext cx="40473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🟠 UNSUPPORTED ISSUE</a:t>
            </a:r>
          </a:p>
          <a:p>
            <a:r>
              <a:rPr lang="en-US" b="1" dirty="0">
                <a:solidFill>
                  <a:schemeClr val="bg1"/>
                </a:solidFill>
              </a:rPr>
              <a:t>Employee: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“My printer shows error E45.”</a:t>
            </a:r>
          </a:p>
          <a:p>
            <a:r>
              <a:rPr lang="en-US" b="1" dirty="0">
                <a:solidFill>
                  <a:schemeClr val="bg1"/>
                </a:solidFill>
              </a:rPr>
              <a:t>Result: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No matching policy → Ask for additional details → General IT Support Ticket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550</Words>
  <Application>Microsoft Office PowerPoint</Application>
  <PresentationFormat>Widescreen</PresentationFormat>
  <Paragraphs>146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Aditi Goyal</cp:lastModifiedBy>
  <cp:revision>5</cp:revision>
  <dcterms:created xsi:type="dcterms:W3CDTF">2013-01-27T09:14:16Z</dcterms:created>
  <dcterms:modified xsi:type="dcterms:W3CDTF">2026-09-17T15:12:32Z</dcterms:modified>
  <cp:category/>
</cp:coreProperties>
</file>